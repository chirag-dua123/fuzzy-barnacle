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1ADAF0-347C-4B42-924E-DFA10A331831}">
  <a:tblStyle styleId="{EA1ADAF0-347C-4B42-924E-DFA10A33183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Garamond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Garamond-italic.fntdata"/><Relationship Id="rId14" Type="http://schemas.openxmlformats.org/officeDocument/2006/relationships/font" Target="fonts/Garamond-bold.fntdata"/><Relationship Id="rId17" Type="http://schemas.openxmlformats.org/officeDocument/2006/relationships/font" Target="fonts/Oswald-regular.fntdata"/><Relationship Id="rId16" Type="http://schemas.openxmlformats.org/officeDocument/2006/relationships/font" Target="fonts/Garamon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Oswa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409be6ee9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409be6ee95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409be6ee950_3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6" name="Google Shape;116;g409be6ee950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409be6ee950_3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779525" y="13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59917" t="0"/>
          <a:stretch/>
        </p:blipFill>
        <p:spPr>
          <a:xfrm>
            <a:off x="6854891" y="1715881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ctrTitle"/>
          </p:nvPr>
        </p:nvSpPr>
        <p:spPr>
          <a:xfrm>
            <a:off x="152400" y="1498"/>
            <a:ext cx="10363200" cy="15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609611" y="1249275"/>
            <a:ext cx="5924700" cy="4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–SIH26192</a:t>
            </a:r>
            <a:endParaRPr sz="1200"/>
          </a:p>
          <a:p>
            <a:pPr indent="-2730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 -</a:t>
            </a:r>
            <a:r>
              <a:rPr b="1" lang="en-US" sz="2200">
                <a:solidFill>
                  <a:schemeClr val="dk1"/>
                </a:solidFill>
              </a:rPr>
              <a:t> Flash Flood Prediction System for Hilly Regions using Multi-Source Data Theme</a:t>
            </a:r>
            <a:endParaRPr b="1" sz="2200">
              <a:solidFill>
                <a:schemeClr val="dk1"/>
              </a:solidFill>
            </a:endParaRPr>
          </a:p>
          <a:p>
            <a:pPr indent="-2730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-2730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</a:t>
            </a:r>
            <a:r>
              <a:rPr b="1" lang="en-US" sz="2200">
                <a:solidFill>
                  <a:schemeClr val="dk1"/>
                </a:solidFill>
              </a:rPr>
              <a:t>Disaster Management</a:t>
            </a:r>
            <a:endParaRPr sz="1200"/>
          </a:p>
          <a:p>
            <a:pPr indent="-2730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</a:t>
            </a:r>
            <a:endParaRPr sz="1200"/>
          </a:p>
          <a:p>
            <a:pPr indent="-2730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 S</a:t>
            </a:r>
            <a:r>
              <a:rPr b="1" lang="en-US" sz="2200">
                <a:solidFill>
                  <a:schemeClr val="dk1"/>
                </a:solidFill>
              </a:rPr>
              <a:t>IH 452</a:t>
            </a:r>
            <a:endParaRPr sz="1200"/>
          </a:p>
          <a:p>
            <a:pPr indent="-2730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</a:t>
            </a:r>
            <a:r>
              <a:rPr b="1" lang="en-US" sz="2200">
                <a:solidFill>
                  <a:schemeClr val="dk1"/>
                </a:solidFill>
              </a:rPr>
              <a:t>- &lt;helloSIH&gt;</a:t>
            </a:r>
            <a:endParaRPr b="1"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4" name="Google Shape;94;p13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{EA1ADAF0-347C-4B42-924E-DFA10A331831}</a:tableStyleId>
              </a:tblPr>
              <a:tblGrid>
                <a:gridCol w="1905000"/>
                <a:gridCol w="4057650"/>
              </a:tblGrid>
              <a:tr h="13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5" name="Google Shape;95;p13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{EA1ADAF0-347C-4B42-924E-DFA10A331831}</a:tableStyleId>
              </a:tblPr>
              <a:tblGrid>
                <a:gridCol w="1905000"/>
                <a:gridCol w="4057650"/>
              </a:tblGrid>
              <a:tr h="13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6" name="Google Shape;96;p13"/>
          <p:cNvSpPr txBox="1"/>
          <p:nvPr/>
        </p:nvSpPr>
        <p:spPr>
          <a:xfrm>
            <a:off x="457200" y="4572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609600" y="6096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8" name="Google Shape;98;p13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{EA1ADAF0-347C-4B42-924E-DFA10A331831}</a:tableStyleId>
              </a:tblPr>
              <a:tblGrid>
                <a:gridCol w="1905000"/>
                <a:gridCol w="4057650"/>
              </a:tblGrid>
              <a:tr h="13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9" name="Google Shape;99;p13"/>
          <p:cNvSpPr txBox="1"/>
          <p:nvPr/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3912050" y="4779500"/>
            <a:ext cx="8317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>
            <p:ph type="title"/>
          </p:nvPr>
        </p:nvSpPr>
        <p:spPr>
          <a:xfrm>
            <a:off x="1726400" y="80650"/>
            <a:ext cx="81360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	JAL DRISHTI</a:t>
            </a:r>
            <a:endParaRPr b="1" sz="3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51025" y="1063824"/>
            <a:ext cx="5794500" cy="55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/>
              <a:t>Problem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US" sz="1100"/>
              <a:t>Hilly regions face flash floods/landslides with very short warning times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US" sz="1100"/>
              <a:t>Current systems lack hyper-local prediction and fail during monsoon (cloud-blocked satellites, dead telecom towers)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US" sz="1100"/>
              <a:t>Warnings, even when issued, often don't reach or aren't understood by villagers in time to evacuate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/>
              <a:t>Solution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rgbClr val="C00000"/>
                </a:solidFill>
              </a:rPr>
              <a:t>SAR-Based Flood &amp; Soil Monitoring</a:t>
            </a:r>
            <a:r>
              <a:rPr lang="en-US" sz="1100">
                <a:solidFill>
                  <a:schemeClr val="dk1"/>
                </a:solidFill>
              </a:rPr>
              <a:t> : Use Sentinel-1 SAR (Synthetic Aperture Radar) instead — it's an active radar sensor that penetrates cloud cover and works day/night.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rgbClr val="C00000"/>
                </a:solidFill>
              </a:rPr>
              <a:t>lead time for Upstream Watch + Time-to-Reach Prediction:</a:t>
            </a:r>
            <a:r>
              <a:rPr b="1" lang="en-US" sz="900">
                <a:solidFill>
                  <a:schemeClr val="dk1"/>
                </a:solidFill>
              </a:rPr>
              <a:t> I</a:t>
            </a:r>
            <a:r>
              <a:rPr lang="en-US" sz="1100">
                <a:solidFill>
                  <a:schemeClr val="dk1"/>
                </a:solidFill>
              </a:rPr>
              <a:t>nstead of a flat "flood risk: high," compute two concrete numbers per village: distance-to-impact and time-to-impact.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rgbClr val="C00000"/>
                </a:solidFill>
              </a:rPr>
              <a:t>Auto-Generated Evacuation Route with Live Hazard Overlay</a:t>
            </a:r>
            <a:r>
              <a:rPr b="1" lang="en-US" sz="1700">
                <a:solidFill>
                  <a:srgbClr val="C00000"/>
                </a:solidFill>
              </a:rPr>
              <a:t> </a:t>
            </a:r>
            <a:r>
              <a:rPr b="1" lang="en-US" sz="1700">
                <a:solidFill>
                  <a:schemeClr val="dk1"/>
                </a:solidFill>
              </a:rPr>
              <a:t>: </a:t>
            </a:r>
            <a:r>
              <a:rPr lang="en-US" sz="1100">
                <a:solidFill>
                  <a:schemeClr val="dk1"/>
                </a:solidFill>
              </a:rPr>
              <a:t>A Google-Maps-style live rerouting system for evacuation, not just a static "evacuate" instruction.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100"/>
              <a:buChar char="●"/>
            </a:pPr>
            <a:r>
              <a:rPr lang="en-US" sz="1100">
                <a:solidFill>
                  <a:srgbClr val="C00000"/>
                </a:solidFill>
              </a:rPr>
              <a:t>Auto-generated local-language voice alert</a:t>
            </a:r>
            <a:endParaRPr sz="1100">
              <a:solidFill>
                <a:srgbClr val="C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rgbClr val="C00000"/>
                </a:solidFill>
              </a:rPr>
              <a:t>LoRa (Long Range radio)</a:t>
            </a:r>
            <a:r>
              <a:rPr lang="en-US" sz="1200">
                <a:solidFill>
                  <a:srgbClr val="C00000"/>
                </a:solidFill>
              </a:rPr>
              <a:t> modules at village level form a </a:t>
            </a:r>
            <a:r>
              <a:rPr lang="en-US" sz="1100">
                <a:solidFill>
                  <a:srgbClr val="C00000"/>
                </a:solidFill>
              </a:rPr>
              <a:t>mesh network</a:t>
            </a:r>
            <a:r>
              <a:rPr lang="en-US" sz="1200">
                <a:solidFill>
                  <a:srgbClr val="C00000"/>
                </a:solidFill>
              </a:rPr>
              <a:t> : </a:t>
            </a:r>
            <a:r>
              <a:rPr lang="en-US" sz="1200">
                <a:solidFill>
                  <a:schemeClr val="dk1"/>
                </a:solidFill>
              </a:rPr>
              <a:t>Telecom towers are typically the first infrastructure to fail in a hilly flood disaster </a:t>
            </a:r>
            <a:endParaRPr sz="1100">
              <a:solidFill>
                <a:srgbClr val="C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100"/>
              <a:buChar char="●"/>
            </a:pPr>
            <a:r>
              <a:rPr lang="en-US" sz="1200">
                <a:solidFill>
                  <a:srgbClr val="C00000"/>
                </a:solidFill>
              </a:rPr>
              <a:t>ShelterBnB: Community-Led Evacuation Hosting : </a:t>
            </a:r>
            <a:r>
              <a:rPr lang="en-US" sz="1200">
                <a:solidFill>
                  <a:schemeClr val="dk1"/>
                </a:solidFill>
              </a:rPr>
              <a:t>an 'Airbnb for emergencies'—we remove these emotional barriers and provide a psychologically safe, dignified temporary home</a:t>
            </a:r>
            <a:endParaRPr sz="1100">
              <a:solidFill>
                <a:srgbClr val="C00000"/>
              </a:solidFill>
            </a:endParaRPr>
          </a:p>
          <a:p>
            <a:pPr indent="0" lvl="0" marL="0" marR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0" name="Google Shape;110;p1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11" name="Google Shape;111;p14"/>
          <p:cNvSpPr/>
          <p:nvPr/>
        </p:nvSpPr>
        <p:spPr>
          <a:xfrm>
            <a:off x="151026" y="159912"/>
            <a:ext cx="1731600" cy="7455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&lt;helloSIH&gt;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6300975" y="1473700"/>
            <a:ext cx="5466900" cy="4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Key Features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SAR (Sentinel-1) based flood/soil detection — works through monsoon cloud cover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Upstream Watch — distance &amp; time-to-impact countdown per village (e.g. "ETA 3h 20m")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Offline LoRa mesh alert relay — works even when cell towers go down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Auto local-language voice alerts (Assamese, Nepali, etc.)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Live-rerouted evacuation paths (Google Maps-style, hazard-aware)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Kirana Guard — decentralized micro-relief supply via local Kirana stores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ShelterBnB — community-hosted evacuee shelter matching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Novelty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Cross-border (Nepal DHM) upstream data — most teams stay India-only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Radar over optical satellite — solves the "clouds block satellites during floods" blind spot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Physically grounded lead-time model (Muskingum-Cunge routing), not a guessed ETA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Goes beyond prediction — solves last-mile delivery, evacuation, supply &amp; shelter, not just alerting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09600" y="1544625"/>
            <a:ext cx="49032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Technologies used:</a:t>
            </a:r>
            <a:endParaRPr b="1" sz="18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Data:</a:t>
            </a:r>
            <a:r>
              <a:rPr lang="en-US" sz="1500">
                <a:solidFill>
                  <a:schemeClr val="dk1"/>
                </a:solidFill>
              </a:rPr>
              <a:t> Python (rasterio, gdal), GEE API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ML:</a:t>
            </a:r>
            <a:r>
              <a:rPr lang="en-US" sz="1500">
                <a:solidFill>
                  <a:schemeClr val="dk1"/>
                </a:solidFill>
              </a:rPr>
              <a:t> PyTorch, TensorFlow, LSTM, U-Net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Backend:</a:t>
            </a:r>
            <a:r>
              <a:rPr lang="en-US" sz="1500">
                <a:solidFill>
                  <a:schemeClr val="dk1"/>
                </a:solidFill>
              </a:rPr>
              <a:t> FastAPI, PostgreSQL + PostGIS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Frontend:</a:t>
            </a:r>
            <a:r>
              <a:rPr lang="en-US" sz="1500">
                <a:solidFill>
                  <a:schemeClr val="dk1"/>
                </a:solidFill>
              </a:rPr>
              <a:t> React/TypeScript, Leaflet.js, Tailwind CSS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Hardware/IoT:</a:t>
            </a:r>
            <a:r>
              <a:rPr lang="en-US" sz="1500">
                <a:solidFill>
                  <a:schemeClr val="dk1"/>
                </a:solidFill>
              </a:rPr>
              <a:t> ESP32, LoRa modules, Raspberry Pi (OpenVINO edge inference)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APIs:</a:t>
            </a:r>
            <a:r>
              <a:rPr lang="en-US" sz="1500">
                <a:solidFill>
                  <a:schemeClr val="dk1"/>
                </a:solidFill>
              </a:rPr>
              <a:t> Copernicus Hub, DHM, CWC, Twilio/Meta (WhatsApp), Google Cloud TTS</a:t>
            </a:r>
            <a:endParaRPr sz="1500"/>
          </a:p>
        </p:txBody>
      </p:sp>
      <p:sp>
        <p:nvSpPr>
          <p:cNvPr id="122" name="Google Shape;122;p15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3" name="Google Shape;123;p15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24" name="Google Shape;124;p15"/>
          <p:cNvSpPr/>
          <p:nvPr/>
        </p:nvSpPr>
        <p:spPr>
          <a:xfrm>
            <a:off x="336775" y="129000"/>
            <a:ext cx="19791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&lt;helloSIH&gt;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title="mermaid-flowchart-2026-09-07T07-15-1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6725" y="1401863"/>
            <a:ext cx="5851823" cy="4614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title="SIH-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2600" y="3992025"/>
            <a:ext cx="4197191" cy="2057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09600" y="2533653"/>
            <a:ext cx="938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36" name="Google Shape;136;p16"/>
          <p:cNvSpPr/>
          <p:nvPr/>
        </p:nvSpPr>
        <p:spPr>
          <a:xfrm>
            <a:off x="329776" y="129000"/>
            <a:ext cx="16926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&lt;helloSIH&gt;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title="final feasibility and viability.png"/>
          <p:cNvPicPr preferRelativeResize="0"/>
          <p:nvPr/>
        </p:nvPicPr>
        <p:blipFill rotWithShape="1">
          <a:blip r:embed="rId4">
            <a:alphaModFix/>
          </a:blip>
          <a:srcRect b="1342" l="0" r="0" t="0"/>
          <a:stretch/>
        </p:blipFill>
        <p:spPr>
          <a:xfrm>
            <a:off x="329775" y="1095375"/>
            <a:ext cx="11700150" cy="56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09600" y="2533653"/>
            <a:ext cx="938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8" name="Google Shape;148;p1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49" name="Google Shape;149;p17"/>
          <p:cNvSpPr/>
          <p:nvPr/>
        </p:nvSpPr>
        <p:spPr>
          <a:xfrm>
            <a:off x="253125" y="129013"/>
            <a:ext cx="19980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&lt;helloSIH&gt;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title="Screenshot From 2026-09-07 02-27-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775" y="1165499"/>
            <a:ext cx="11700152" cy="4559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1238250"/>
            <a:ext cx="5334000" cy="3725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Sentinel-1 SAR Over Optical Imagery</a:t>
            </a:r>
            <a:endParaRPr b="1" sz="13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rtl="0" algn="l">
              <a:spcBef>
                <a:spcPts val="75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Arial"/>
              <a:buChar char="●"/>
            </a:pPr>
            <a:r>
              <a:rPr b="1" lang="en-US" sz="11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Arora et al. (2023):</a:t>
            </a: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Demonstrates cloud-penetrating advantage of SAR for monsoon floods in India.</a:t>
            </a:r>
            <a:endParaRPr sz="115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rtl="0" algn="l">
              <a:spcBef>
                <a:spcPts val="60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Arial"/>
              <a:buChar char="●"/>
            </a:pPr>
            <a:r>
              <a:rPr b="1" lang="en-US" sz="11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Bove et al. (2022):</a:t>
            </a: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Benchmarks SAR vs optical, confirming optical failure under cloud cover.</a:t>
            </a:r>
            <a:endParaRPr sz="115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Upstream Cross-Border Data Ingestion</a:t>
            </a:r>
            <a:endParaRPr b="1" sz="13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rtl="0" algn="l">
              <a:spcBef>
                <a:spcPts val="75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Arial"/>
              <a:buChar char="●"/>
            </a:pPr>
            <a:r>
              <a:rPr b="1" lang="en-US" sz="11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Kafle et al. (2020):</a:t>
            </a: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Covers transboundary flood early warning systems and Nepal-to-India data pipeline.</a:t>
            </a:r>
            <a:endParaRPr sz="115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rtl="0" algn="l">
              <a:spcBef>
                <a:spcPts val="60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Arial"/>
              <a:buChar char="●"/>
            </a:pPr>
            <a:r>
              <a:rPr b="1" lang="en-US" sz="11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UNFCCC Case Study:</a:t>
            </a: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Details real-world EWS implementation and downstream alerts on the Indo-Nepal border.</a:t>
            </a:r>
            <a:endParaRPr sz="115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3. Offline-First LoRa Mesh + Edge Alerting</a:t>
            </a:r>
            <a:endParaRPr b="1" sz="13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rtl="0" algn="l">
              <a:spcBef>
                <a:spcPts val="75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Arial"/>
              <a:buChar char="●"/>
            </a:pPr>
            <a:r>
              <a:rPr b="1" lang="en-US" sz="11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Tanweer et al. (2023):</a:t>
            </a: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Implements Edge AI (LSTM on Raspberry Pi) over LoRa, optimized with OpenVINO.</a:t>
            </a:r>
            <a:endParaRPr sz="115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rtl="0" algn="l">
              <a:spcBef>
                <a:spcPts val="600"/>
              </a:spcBef>
              <a:spcAft>
                <a:spcPts val="750"/>
              </a:spcAft>
              <a:buClr>
                <a:srgbClr val="222222"/>
              </a:buClr>
              <a:buSzPts val="1150"/>
              <a:buFont typeface="Arial"/>
              <a:buChar char="●"/>
            </a:pPr>
            <a:r>
              <a:rPr b="1" lang="en-US" sz="11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Macaraeg et al. (2024):</a:t>
            </a: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Evaluates LoRa mesh (Meshtastic) performance and range for disaster deployment.</a:t>
            </a:r>
            <a:endParaRPr sz="115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8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1" name="Google Shape;161;p18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62" name="Google Shape;162;p18"/>
          <p:cNvSpPr/>
          <p:nvPr/>
        </p:nvSpPr>
        <p:spPr>
          <a:xfrm>
            <a:off x="329776" y="252250"/>
            <a:ext cx="17988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&lt;helloSIH&gt;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